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972dd951c_4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972dd951c_4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972dd951c_4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972dd951c_4_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d972dd951c_4_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d972dd951c_4_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72dd951c_4_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972dd951c_4_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d972dd951c_4_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972dd951c_4_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972dd951c_4_8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972dd951c_4_8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972dd951c_4_1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972dd951c_4_1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972dd951c_4_1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972dd951c_4_1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d972dd951c_4_1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972dd951c_4_1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C2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1229399" y="1748850"/>
            <a:ext cx="37860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fr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Besoin de vous connecter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fr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gratuitement?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67541" y="4852290"/>
            <a:ext cx="477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4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5A5A54"/>
                </a:solidFill>
                <a:latin typeface="Calibri"/>
                <a:ea typeface="Calibri"/>
                <a:cs typeface="Calibri"/>
                <a:sym typeface="Calibri"/>
              </a:rPr>
              <a:t>© 2026 Elodie Sevestre — Ada Tech School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061425" y="0"/>
            <a:ext cx="3082800" cy="5143500"/>
          </a:xfrm>
          <a:prstGeom prst="rect">
            <a:avLst/>
          </a:prstGeom>
          <a:solidFill>
            <a:srgbClr val="F3F0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1436" y="1370550"/>
            <a:ext cx="3088800" cy="2451900"/>
          </a:xfrm>
          <a:prstGeom prst="roundRect">
            <a:avLst>
              <a:gd fmla="val 1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4D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2800"/>
              <a:buFont typeface="Trebuchet MS"/>
              <a:buNone/>
            </a:pPr>
            <a:r>
              <a:rPr b="1" i="0" lang="fr" sz="28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Projet Adataviz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— Nantes Métropole Open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57200" y="1188720"/>
            <a:ext cx="2606040" cy="256032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457200" y="1188720"/>
            <a:ext cx="64008" cy="2560320"/>
          </a:xfrm>
          <a:prstGeom prst="rect">
            <a:avLst/>
          </a:prstGeom>
          <a:solidFill>
            <a:srgbClr val="5B7FA6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640080" y="13716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640080" y="184708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400"/>
              <a:buFont typeface="Trebuchet MS"/>
              <a:buNone/>
            </a:pPr>
            <a:r>
              <a:rPr b="1" i="0" lang="fr" sz="14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L'application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16"/>
          <p:cNvCxnSpPr/>
          <p:nvPr/>
        </p:nvCxnSpPr>
        <p:spPr>
          <a:xfrm>
            <a:off x="640080" y="2258568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6"/>
          <p:cNvSpPr/>
          <p:nvPr/>
        </p:nvSpPr>
        <p:spPr>
          <a:xfrm>
            <a:off x="640080" y="23774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200"/>
              <a:buFont typeface="Calibri"/>
              <a:buNone/>
            </a:pPr>
            <a:r>
              <a:rPr b="0" i="0" lang="fr" sz="120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Une web app qui localise les bornes wifi publiques de Nantes Métropole sur une carte interactive.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227832" y="1188720"/>
            <a:ext cx="2606040" cy="256032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3227832" y="1188720"/>
            <a:ext cx="64008" cy="2560320"/>
          </a:xfrm>
          <a:prstGeom prst="rect">
            <a:avLst/>
          </a:prstGeom>
          <a:solidFill>
            <a:srgbClr val="7DAA8F"/>
          </a:solidFill>
          <a:ln cap="flat" cmpd="sng" w="12700">
            <a:solidFill>
              <a:srgbClr val="7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3410712" y="13716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410712" y="184708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400"/>
              <a:buFont typeface="Trebuchet MS"/>
              <a:buNone/>
            </a:pPr>
            <a:r>
              <a:rPr b="1" i="0" lang="fr" sz="14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Fonctionnalités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3410712" y="2258568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6"/>
          <p:cNvSpPr/>
          <p:nvPr/>
        </p:nvSpPr>
        <p:spPr>
          <a:xfrm>
            <a:off x="3410712" y="23774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200"/>
              <a:buFont typeface="Calibri"/>
              <a:buNone/>
            </a:pPr>
            <a:r>
              <a:rPr b="0" i="0" lang="fr" sz="120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Recherche par commune · Pagination · Carte interactive · Compteur de résultats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998464" y="1188720"/>
            <a:ext cx="2606040" cy="256032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5998464" y="1188720"/>
            <a:ext cx="64008" cy="2560320"/>
          </a:xfrm>
          <a:prstGeom prst="rect">
            <a:avLst/>
          </a:prstGeom>
          <a:solidFill>
            <a:srgbClr val="6B5EA8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181344" y="13716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🛠️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181344" y="184708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400"/>
              <a:buFont typeface="Trebuchet MS"/>
              <a:buNone/>
            </a:pPr>
            <a:r>
              <a:rPr b="1" i="0" lang="fr" sz="14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Stack technique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16"/>
          <p:cNvCxnSpPr/>
          <p:nvPr/>
        </p:nvCxnSpPr>
        <p:spPr>
          <a:xfrm>
            <a:off x="6181344" y="2258568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6"/>
          <p:cNvSpPr/>
          <p:nvPr/>
        </p:nvSpPr>
        <p:spPr>
          <a:xfrm>
            <a:off x="6181344" y="23774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200"/>
              <a:buFont typeface="Calibri"/>
              <a:buNone/>
            </a:pPr>
            <a:r>
              <a:rPr b="0" i="0" lang="fr" sz="120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HTML / CSS / JS vanilla · Modules ES6 · API REST · Mapbox GL JS · Vite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000"/>
              <a:buFont typeface="Calibri"/>
              <a:buNone/>
            </a:pPr>
            <a:r>
              <a:rPr b="0" i="1" lang="fr" sz="100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Partie cartographique développée avec Maélie.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4D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2800"/>
              <a:buFont typeface="Trebuchet MS"/>
              <a:buNone/>
            </a:pPr>
            <a:r>
              <a:rPr b="1" i="0" lang="fr" sz="28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modulaire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3404885" y="2011670"/>
            <a:ext cx="2469000" cy="777300"/>
          </a:xfrm>
          <a:prstGeom prst="rect">
            <a:avLst/>
          </a:prstGeom>
          <a:solidFill>
            <a:srgbClr val="EDE8F5"/>
          </a:solidFill>
          <a:ln cap="flat" cmpd="sng" w="1905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3404885" y="2011670"/>
            <a:ext cx="91500" cy="777300"/>
          </a:xfrm>
          <a:prstGeom prst="rect">
            <a:avLst/>
          </a:prstGeom>
          <a:solidFill>
            <a:srgbClr val="6B5EA8"/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606053" y="2084822"/>
            <a:ext cx="219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EA8"/>
              </a:buClr>
              <a:buSzPts val="1500"/>
              <a:buFont typeface="Consolas"/>
              <a:buNone/>
            </a:pPr>
            <a:r>
              <a:rPr b="1" lang="fr" sz="1500">
                <a:solidFill>
                  <a:srgbClr val="6B5EA8"/>
                </a:solidFill>
                <a:latin typeface="Consolas"/>
                <a:ea typeface="Consolas"/>
                <a:cs typeface="Consolas"/>
                <a:sym typeface="Consolas"/>
              </a:rPr>
              <a:t>Gestion App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3606053" y="2432294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loader.js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74320" y="1143000"/>
            <a:ext cx="2148900" cy="6585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274320" y="1143000"/>
            <a:ext cx="63900" cy="658500"/>
          </a:xfrm>
          <a:prstGeom prst="rect">
            <a:avLst/>
          </a:prstGeom>
          <a:solidFill>
            <a:srgbClr val="5B7FA6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38912" y="1197864"/>
            <a:ext cx="192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200"/>
              <a:buFont typeface="Consolas"/>
              <a:buNone/>
            </a:pPr>
            <a:r>
              <a:rPr b="1" lang="fr" sz="1200">
                <a:solidFill>
                  <a:srgbClr val="2C2C28"/>
                </a:solidFill>
                <a:latin typeface="Consolas"/>
                <a:ea typeface="Consolas"/>
                <a:cs typeface="Consolas"/>
                <a:sym typeface="Consolas"/>
              </a:rPr>
              <a:t>Recherche utilisateur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438912" y="1499616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950"/>
              <a:buFont typeface="Calibri"/>
              <a:buNone/>
            </a:pPr>
            <a:r>
              <a:rPr lang="fr" sz="950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search.js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274333" y="3166810"/>
            <a:ext cx="2148900" cy="6585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274333" y="3166810"/>
            <a:ext cx="63900" cy="658500"/>
          </a:xfrm>
          <a:prstGeom prst="rect">
            <a:avLst/>
          </a:prstGeom>
          <a:solidFill>
            <a:srgbClr val="5B7FA6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38924" y="3221674"/>
            <a:ext cx="192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200"/>
              <a:buFont typeface="Consolas"/>
              <a:buNone/>
            </a:pPr>
            <a:r>
              <a:rPr b="1" lang="fr" sz="1200">
                <a:solidFill>
                  <a:srgbClr val="2C2C28"/>
                </a:solidFill>
                <a:latin typeface="Consolas"/>
                <a:ea typeface="Consolas"/>
                <a:cs typeface="Consolas"/>
                <a:sym typeface="Consolas"/>
              </a:rPr>
              <a:t>Requête HTTP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38924" y="3523426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950"/>
              <a:buFont typeface="Calibri"/>
              <a:buNone/>
            </a:pPr>
            <a:r>
              <a:rPr lang="fr" sz="950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api.js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6720840" y="1143000"/>
            <a:ext cx="2148840" cy="658368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6720840" y="1143000"/>
            <a:ext cx="64008" cy="658368"/>
          </a:xfrm>
          <a:prstGeom prst="rect">
            <a:avLst/>
          </a:prstGeom>
          <a:solidFill>
            <a:srgbClr val="7DAA8F"/>
          </a:solidFill>
          <a:ln cap="flat" cmpd="sng" w="12700">
            <a:solidFill>
              <a:srgbClr val="7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6885432" y="1197864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200"/>
              <a:buFont typeface="Consolas"/>
              <a:buNone/>
            </a:pPr>
            <a:r>
              <a:rPr b="1" lang="fr" sz="1200">
                <a:solidFill>
                  <a:srgbClr val="2C2C28"/>
                </a:solidFill>
                <a:latin typeface="Consolas"/>
                <a:ea typeface="Consolas"/>
                <a:cs typeface="Consolas"/>
                <a:sym typeface="Consolas"/>
              </a:rPr>
              <a:t>Affichage des bornes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6885432" y="1499616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950"/>
              <a:buFont typeface="Calibri"/>
              <a:buNone/>
            </a:pPr>
            <a:r>
              <a:rPr lang="fr" sz="950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render.js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720840" y="3166810"/>
            <a:ext cx="2148900" cy="6585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6720840" y="3166810"/>
            <a:ext cx="63900" cy="658500"/>
          </a:xfrm>
          <a:prstGeom prst="rect">
            <a:avLst/>
          </a:prstGeom>
          <a:solidFill>
            <a:srgbClr val="7DAA8F"/>
          </a:solidFill>
          <a:ln cap="flat" cmpd="sng" w="12700">
            <a:solidFill>
              <a:srgbClr val="7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6885432" y="3221674"/>
            <a:ext cx="192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200"/>
              <a:buFont typeface="Consolas"/>
              <a:buNone/>
            </a:pPr>
            <a:r>
              <a:rPr b="1" lang="fr" sz="1200">
                <a:solidFill>
                  <a:srgbClr val="2C2C28"/>
                </a:solidFill>
                <a:latin typeface="Consolas"/>
                <a:ea typeface="Consolas"/>
                <a:cs typeface="Consolas"/>
                <a:sym typeface="Consolas"/>
              </a:rPr>
              <a:t>Cartographie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885432" y="3523426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950"/>
              <a:buFont typeface="Calibri"/>
              <a:buNone/>
            </a:pPr>
            <a:r>
              <a:rPr lang="fr" sz="950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map.js</a:t>
            </a:r>
            <a:r>
              <a:rPr baseline="30000" lang="fr" sz="950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baseline="3000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439946" y="3825173"/>
            <a:ext cx="2469000" cy="6585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3439946" y="3825173"/>
            <a:ext cx="63900" cy="658500"/>
          </a:xfrm>
          <a:prstGeom prst="rect">
            <a:avLst/>
          </a:prstGeom>
          <a:solidFill>
            <a:srgbClr val="B5763A"/>
          </a:solidFill>
          <a:ln cap="flat" cmpd="sng" w="12700">
            <a:solidFill>
              <a:srgbClr val="B57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3604538" y="3880037"/>
            <a:ext cx="2240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200"/>
              <a:buFont typeface="Consolas"/>
              <a:buNone/>
            </a:pPr>
            <a:r>
              <a:rPr b="1" lang="fr" sz="1200">
                <a:solidFill>
                  <a:srgbClr val="2C2C28"/>
                </a:solidFill>
                <a:latin typeface="Consolas"/>
                <a:ea typeface="Consolas"/>
                <a:cs typeface="Consolas"/>
                <a:sym typeface="Consolas"/>
              </a:rPr>
              <a:t>Etat partagé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604538" y="4181789"/>
            <a:ext cx="224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950"/>
              <a:buFont typeface="Calibri"/>
              <a:buNone/>
            </a:pPr>
            <a:r>
              <a:rPr lang="fr" sz="950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state.js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7386821" y="4779875"/>
            <a:ext cx="172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950"/>
              <a:buFont typeface="Calibri"/>
              <a:buNone/>
            </a:pPr>
            <a:r>
              <a:rPr b="0" i="1" lang="fr" sz="95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* map.js développé avec Maélie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17"/>
          <p:cNvCxnSpPr>
            <a:stCxn id="97" idx="3"/>
            <a:endCxn id="94" idx="1"/>
          </p:cNvCxnSpPr>
          <p:nvPr/>
        </p:nvCxnSpPr>
        <p:spPr>
          <a:xfrm>
            <a:off x="2423220" y="1472250"/>
            <a:ext cx="981600" cy="928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5B7FA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7"/>
          <p:cNvCxnSpPr>
            <a:stCxn id="101" idx="3"/>
            <a:endCxn id="94" idx="1"/>
          </p:cNvCxnSpPr>
          <p:nvPr/>
        </p:nvCxnSpPr>
        <p:spPr>
          <a:xfrm flipH="1" rot="10800000">
            <a:off x="2423233" y="2400460"/>
            <a:ext cx="981600" cy="10956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5B7FA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7"/>
          <p:cNvCxnSpPr>
            <a:stCxn id="106" idx="1"/>
            <a:endCxn id="93" idx="3"/>
          </p:cNvCxnSpPr>
          <p:nvPr/>
        </p:nvCxnSpPr>
        <p:spPr>
          <a:xfrm flipH="1">
            <a:off x="5873940" y="1472184"/>
            <a:ext cx="846900" cy="9282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7DAA8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7"/>
          <p:cNvCxnSpPr>
            <a:stCxn id="110" idx="1"/>
            <a:endCxn id="93" idx="3"/>
          </p:cNvCxnSpPr>
          <p:nvPr/>
        </p:nvCxnSpPr>
        <p:spPr>
          <a:xfrm rot="10800000">
            <a:off x="5873940" y="2400460"/>
            <a:ext cx="846900" cy="10956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7DAA8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7"/>
          <p:cNvCxnSpPr>
            <a:endCxn id="93" idx="2"/>
          </p:cNvCxnSpPr>
          <p:nvPr/>
        </p:nvCxnSpPr>
        <p:spPr>
          <a:xfrm flipH="1" rot="5400000">
            <a:off x="4138835" y="3289520"/>
            <a:ext cx="1036200" cy="35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B5763A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4D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2800"/>
              <a:buFont typeface="Trebuchet MS"/>
              <a:buNone/>
            </a:pPr>
            <a:r>
              <a:rPr b="1" i="0" lang="fr" sz="28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Choix techniques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57200" y="1188720"/>
            <a:ext cx="3840480" cy="169164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3200400" y="1298448"/>
            <a:ext cx="1005840" cy="246888"/>
          </a:xfrm>
          <a:prstGeom prst="rect">
            <a:avLst/>
          </a:prstGeom>
          <a:solidFill>
            <a:srgbClr val="5B7FA6">
              <a:alpha val="85098"/>
            </a:srgbClr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3200400" y="1298448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40080" y="131673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300"/>
              <a:buFont typeface="Trebuchet MS"/>
              <a:buNone/>
            </a:pPr>
            <a:r>
              <a:rPr b="1" i="0" lang="fr" sz="13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🔗  URLSearchParams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8"/>
          <p:cNvCxnSpPr/>
          <p:nvPr/>
        </p:nvCxnSpPr>
        <p:spPr>
          <a:xfrm>
            <a:off x="640080" y="1709928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18"/>
          <p:cNvSpPr/>
          <p:nvPr/>
        </p:nvSpPr>
        <p:spPr>
          <a:xfrm>
            <a:off x="640080" y="1783080"/>
            <a:ext cx="3520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Pour construire les paramètres de requête proprement — pas de concaténation de chaînes à la main.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663440" y="1188720"/>
            <a:ext cx="3840480" cy="169164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7406640" y="1298448"/>
            <a:ext cx="1005840" cy="246888"/>
          </a:xfrm>
          <a:prstGeom prst="rect">
            <a:avLst/>
          </a:prstGeom>
          <a:solidFill>
            <a:srgbClr val="B5763A">
              <a:alpha val="85098"/>
            </a:srgbClr>
          </a:solidFill>
          <a:ln cap="flat" cmpd="sng" w="12700">
            <a:solidFill>
              <a:srgbClr val="B57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7406640" y="1298448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846320" y="131673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300"/>
              <a:buFont typeface="Trebuchet MS"/>
              <a:buNone/>
            </a:pPr>
            <a:r>
              <a:rPr b="1" i="0" lang="fr" sz="13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📦  State centralisé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18"/>
          <p:cNvCxnSpPr/>
          <p:nvPr/>
        </p:nvCxnSpPr>
        <p:spPr>
          <a:xfrm>
            <a:off x="4846320" y="1709928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8"/>
          <p:cNvSpPr/>
          <p:nvPr/>
        </p:nvSpPr>
        <p:spPr>
          <a:xfrm>
            <a:off x="4846320" y="1783080"/>
            <a:ext cx="3520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query, offset et totalCount dans un seul fichier. Les autres modules passent par des setters pour modifier les données.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57200" y="3154680"/>
            <a:ext cx="3840480" cy="169164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3200400" y="3264408"/>
            <a:ext cx="1005840" cy="246888"/>
          </a:xfrm>
          <a:prstGeom prst="rect">
            <a:avLst/>
          </a:prstGeom>
          <a:solidFill>
            <a:srgbClr val="6B5EA8">
              <a:alpha val="85098"/>
            </a:srgbClr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3200400" y="3264408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640080" y="328269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300"/>
              <a:buFont typeface="Trebuchet MS"/>
              <a:buNone/>
            </a:pPr>
            <a:r>
              <a:rPr b="1" i="0" lang="fr" sz="13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🔄  Reset de l'offset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18"/>
          <p:cNvCxnSpPr/>
          <p:nvPr/>
        </p:nvCxnSpPr>
        <p:spPr>
          <a:xfrm>
            <a:off x="640080" y="3675888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8"/>
          <p:cNvSpPr/>
          <p:nvPr/>
        </p:nvSpPr>
        <p:spPr>
          <a:xfrm>
            <a:off x="640080" y="3749040"/>
            <a:ext cx="3520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setOffset(0) à chaque nouvelle recherche — sans ça, on rate les premiers résultats après une pagination.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663440" y="3154680"/>
            <a:ext cx="3840480" cy="169164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7406640" y="3264408"/>
            <a:ext cx="1005840" cy="246888"/>
          </a:xfrm>
          <a:prstGeom prst="rect">
            <a:avLst/>
          </a:prstGeom>
          <a:solidFill>
            <a:srgbClr val="7DAA8F">
              <a:alpha val="85098"/>
            </a:srgbClr>
          </a:solidFill>
          <a:ln cap="flat" cmpd="sng" w="12700">
            <a:solidFill>
              <a:srgbClr val="7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7406640" y="3264408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loader.js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846320" y="328269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300"/>
              <a:buFont typeface="Trebuchet MS"/>
              <a:buNone/>
            </a:pPr>
            <a:r>
              <a:rPr b="1" i="0" lang="fr" sz="13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⚙️  Paramètre append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>
            <a:off x="4846320" y="3675888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8"/>
          <p:cNvSpPr/>
          <p:nvPr/>
        </p:nvSpPr>
        <p:spPr>
          <a:xfrm>
            <a:off x="4846320" y="3749040"/>
            <a:ext cx="3520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Un booléen pour dire à loading() d'ajouter ou de vider la liste. Une seule fonction gère les trois cas : démarrage, recherche, pagination.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4D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2800"/>
              <a:buFont typeface="Trebuchet MS"/>
              <a:buNone/>
            </a:pPr>
            <a:r>
              <a:rPr b="1" i="0" lang="fr" sz="28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Fonctionnalité : Recherche synchronisée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— une action, trois mises à jour en même temps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57200" y="1371542"/>
            <a:ext cx="2606100" cy="23775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94360" y="1508702"/>
            <a:ext cx="100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4000"/>
              <a:buFont typeface="Trebuchet MS"/>
              <a:buNone/>
            </a:pPr>
            <a:r>
              <a:rPr b="1" i="0" lang="fr" sz="4000" u="none" cap="none" strike="noStrike">
                <a:solidFill>
                  <a:srgbClr val="5B7FA6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640080" y="224022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400"/>
              <a:buFont typeface="Trebuchet MS"/>
              <a:buNone/>
            </a:pPr>
            <a:r>
              <a:rPr b="1" i="0" lang="fr" sz="14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Liste reconstruite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9"/>
          <p:cNvCxnSpPr/>
          <p:nvPr/>
        </p:nvCxnSpPr>
        <p:spPr>
          <a:xfrm>
            <a:off x="640080" y="2633414"/>
            <a:ext cx="210300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9"/>
          <p:cNvSpPr/>
          <p:nvPr/>
        </p:nvSpPr>
        <p:spPr>
          <a:xfrm>
            <a:off x="640080" y="2743142"/>
            <a:ext cx="2286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200"/>
              <a:buFont typeface="Calibri"/>
              <a:buNone/>
            </a:pPr>
            <a:r>
              <a:rPr b="0" i="0" lang="fr" sz="120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render.js vide la liste et recrée les cartes à partir des nouveaux résultats.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227832" y="1371542"/>
            <a:ext cx="2606100" cy="23775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3364992" y="1508702"/>
            <a:ext cx="100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AA8F"/>
              </a:buClr>
              <a:buSzPts val="4000"/>
              <a:buFont typeface="Trebuchet MS"/>
              <a:buNone/>
            </a:pPr>
            <a:r>
              <a:rPr b="1" i="0" lang="fr" sz="4000" u="none" cap="none" strike="noStrike">
                <a:solidFill>
                  <a:srgbClr val="7DAA8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3410712" y="224022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400"/>
              <a:buFont typeface="Trebuchet MS"/>
              <a:buNone/>
            </a:pPr>
            <a:r>
              <a:rPr b="1" i="0" lang="fr" sz="14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Carte recentrée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3410712" y="2633414"/>
            <a:ext cx="210300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9"/>
          <p:cNvSpPr/>
          <p:nvPr/>
        </p:nvSpPr>
        <p:spPr>
          <a:xfrm>
            <a:off x="3410712" y="2743142"/>
            <a:ext cx="2286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200"/>
              <a:buFont typeface="Calibri"/>
              <a:buNone/>
            </a:pPr>
            <a:r>
              <a:rPr b="0" i="0" lang="fr" sz="120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map.js supprime les anciens marqueurs et recalcule le zoom pour montrer les nouvelles bornes.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5998464" y="1371542"/>
            <a:ext cx="2606100" cy="23775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6135624" y="1508702"/>
            <a:ext cx="100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763A"/>
              </a:buClr>
              <a:buSzPts val="4000"/>
              <a:buFont typeface="Trebuchet MS"/>
              <a:buNone/>
            </a:pPr>
            <a:r>
              <a:rPr b="1" i="0" lang="fr" sz="4000" u="none" cap="none" strike="noStrike">
                <a:solidFill>
                  <a:srgbClr val="B5763A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181344" y="224022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400"/>
              <a:buFont typeface="Trebuchet MS"/>
              <a:buNone/>
            </a:pPr>
            <a:r>
              <a:rPr b="1" i="0" lang="fr" sz="14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Compteur affiché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9"/>
          <p:cNvCxnSpPr/>
          <p:nvPr/>
        </p:nvCxnSpPr>
        <p:spPr>
          <a:xfrm>
            <a:off x="6181344" y="2633414"/>
            <a:ext cx="210300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9"/>
          <p:cNvSpPr/>
          <p:nvPr/>
        </p:nvSpPr>
        <p:spPr>
          <a:xfrm>
            <a:off x="6181344" y="2743142"/>
            <a:ext cx="2286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200"/>
              <a:buFont typeface="Calibri"/>
              <a:buNone/>
            </a:pPr>
            <a:r>
              <a:rPr b="0" i="0" lang="fr" sz="120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loader.js affiche le nombre de résultats renvoyé par l'API. Caché si aucune recherche n'est en cours.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5B7FA6">
              <a:alpha val="12156"/>
            </a:srgbClr>
          </a:solidFill>
          <a:ln cap="flat" cmpd="sng" w="1015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1300"/>
              <a:buFont typeface="Trebuchet MS"/>
              <a:buNone/>
            </a:pPr>
            <a:r>
              <a:rPr b="1" lang="fr" sz="1300">
                <a:solidFill>
                  <a:srgbClr val="5B7FA6"/>
                </a:solidFill>
                <a:latin typeface="Trebuchet MS"/>
                <a:ea typeface="Trebuchet MS"/>
                <a:cs typeface="Trebuchet MS"/>
                <a:sym typeface="Trebuchet MS"/>
              </a:rPr>
              <a:t>Saisie</a:t>
            </a:r>
            <a:r>
              <a:rPr b="1" i="0" lang="fr" sz="1300" u="none" cap="none" strike="noStrike">
                <a:solidFill>
                  <a:srgbClr val="5B7FA6"/>
                </a:solidFill>
                <a:latin typeface="Trebuchet MS"/>
                <a:ea typeface="Trebuchet MS"/>
                <a:cs typeface="Trebuchet MS"/>
                <a:sym typeface="Trebuchet MS"/>
              </a:rPr>
              <a:t> commune → liste, carte et compteur se mettent à jour en même temps.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4D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2800"/>
              <a:buFont typeface="Trebuchet MS"/>
              <a:buNone/>
            </a:pPr>
            <a:r>
              <a:rPr b="1" i="0" lang="fr" sz="28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Pour aller plus loin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57200" y="1234440"/>
            <a:ext cx="3840480" cy="16002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3154680" y="1344168"/>
            <a:ext cx="1051560" cy="256032"/>
          </a:xfrm>
          <a:prstGeom prst="rect">
            <a:avLst/>
          </a:prstGeom>
          <a:solidFill>
            <a:srgbClr val="5B7FA6">
              <a:alpha val="85098"/>
            </a:srgbClr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3154680" y="13441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40080" y="137160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300"/>
              <a:buFont typeface="Trebuchet MS"/>
              <a:buNone/>
            </a:pPr>
            <a:r>
              <a:rPr b="1" i="0" lang="fr" sz="13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⏳  Un loader de chargement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640080" y="178308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20"/>
          <p:cNvSpPr/>
          <p:nvPr/>
        </p:nvSpPr>
        <p:spPr>
          <a:xfrm>
            <a:off x="640080" y="185623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Montrer un indicateur pendant le chargement — l'utilisateur sait que ça travaille.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663440" y="1234440"/>
            <a:ext cx="3840480" cy="16002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7360920" y="1344168"/>
            <a:ext cx="1051560" cy="256032"/>
          </a:xfrm>
          <a:prstGeom prst="rect">
            <a:avLst/>
          </a:prstGeom>
          <a:solidFill>
            <a:srgbClr val="7DAA8F">
              <a:alpha val="85098"/>
            </a:srgbClr>
          </a:solidFill>
          <a:ln cap="flat" cmpd="sng" w="12700">
            <a:solidFill>
              <a:srgbClr val="7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7360920" y="13441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Fonctionnalité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846320" y="137160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300"/>
              <a:buFont typeface="Trebuchet MS"/>
              <a:buNone/>
            </a:pPr>
            <a:r>
              <a:rPr b="1" i="0" lang="fr" sz="13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🔽  Filtrer par type de site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>
            <a:off x="4846320" y="178308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0"/>
          <p:cNvSpPr/>
          <p:nvPr/>
        </p:nvSpPr>
        <p:spPr>
          <a:xfrm>
            <a:off x="4846320" y="185623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Filtrer par catégorie (bibliothèque, parc, mairie…) en plus de la commune.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57200" y="3154680"/>
            <a:ext cx="3840480" cy="16002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3154680" y="3264408"/>
            <a:ext cx="1051560" cy="256032"/>
          </a:xfrm>
          <a:prstGeom prst="rect">
            <a:avLst/>
          </a:prstGeom>
          <a:solidFill>
            <a:srgbClr val="B5763A">
              <a:alpha val="85098"/>
            </a:srgbClr>
          </a:solidFill>
          <a:ln cap="flat" cmpd="sng" w="12700">
            <a:solidFill>
              <a:srgbClr val="B57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3154680" y="326440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Robustesse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40080" y="329184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300"/>
              <a:buFont typeface="Trebuchet MS"/>
              <a:buNone/>
            </a:pPr>
            <a:r>
              <a:rPr b="1" i="0" lang="fr" sz="13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⚠️  Gérer les erreurs réseau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640080" y="370332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0"/>
          <p:cNvSpPr/>
          <p:nvPr/>
        </p:nvSpPr>
        <p:spPr>
          <a:xfrm>
            <a:off x="640080" y="377647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Afficher un message dans la page si l'API ne répond pas — pas juste dans la console.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663440" y="3154680"/>
            <a:ext cx="3840480" cy="16002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7360920" y="3264408"/>
            <a:ext cx="1051560" cy="256032"/>
          </a:xfrm>
          <a:prstGeom prst="rect">
            <a:avLst/>
          </a:prstGeom>
          <a:solidFill>
            <a:srgbClr val="6B5EA8">
              <a:alpha val="85098"/>
            </a:srgbClr>
          </a:solidFill>
          <a:ln cap="flat" cmpd="sng" w="12700">
            <a:solidFill>
              <a:srgbClr val="6B5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7360920" y="326440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846320" y="329184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8"/>
              </a:buClr>
              <a:buSzPts val="1300"/>
              <a:buFont typeface="Trebuchet MS"/>
              <a:buNone/>
            </a:pPr>
            <a:r>
              <a:rPr b="1" i="0" lang="fr" sz="1300" u="none" cap="none" strike="noStrike">
                <a:solidFill>
                  <a:srgbClr val="2C2C28"/>
                </a:solidFill>
                <a:latin typeface="Trebuchet MS"/>
                <a:ea typeface="Trebuchet MS"/>
                <a:cs typeface="Trebuchet MS"/>
                <a:sym typeface="Trebuchet MS"/>
              </a:rPr>
              <a:t>🧪  Tester le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>
            <a:off x="4846320" y="370332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20"/>
          <p:cNvSpPr/>
          <p:nvPr/>
        </p:nvSpPr>
        <p:spPr>
          <a:xfrm>
            <a:off x="4846320" y="377647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2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7A7A72"/>
                </a:solidFill>
                <a:latin typeface="Calibri"/>
                <a:ea typeface="Calibri"/>
                <a:cs typeface="Calibri"/>
                <a:sym typeface="Calibri"/>
              </a:rPr>
              <a:t>Tester les fonctions principales pour pouvoir faire évoluer le projet sans tout casser.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